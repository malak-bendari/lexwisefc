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59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050">
              <a:alpha val="70000"/>
            </a:srgbClr>
          </a:solidFill>
          <a:ln w="12700">
            <a:solidFill>
              <a:srgbClr val="0A205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A45CC">
              <a:alpha val="18000"/>
            </a:srgbClr>
          </a:solidFill>
          <a:ln w="12700">
            <a:solidFill>
              <a:srgbClr val="1A45C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560320"/>
            <a:ext cx="1828800" cy="1828800"/>
          </a:xfrm>
          <a:prstGeom prst="ellipse">
            <a:avLst/>
          </a:prstGeom>
          <a:solidFill>
            <a:srgbClr val="00C4A1">
              <a:alpha val="12000"/>
            </a:srgbClr>
          </a:solidFill>
          <a:ln w="12700">
            <a:solidFill>
              <a:srgbClr val="00C4A1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840480"/>
            <a:ext cx="914400" cy="914400"/>
          </a:xfrm>
          <a:prstGeom prst="ellipse">
            <a:avLst/>
          </a:prstGeom>
          <a:solidFill>
            <a:srgbClr val="1A45CC">
              <a:alpha val="15000"/>
            </a:srgbClr>
          </a:solidFill>
          <a:ln w="12700">
            <a:solidFill>
              <a:srgbClr val="1A45CC">
                <a:alpha val="1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20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0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</a:t>
            </a:r>
            <a:r>
              <a:rPr lang="en-US" sz="24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6032" y="8412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· Freelance &amp; Financial Coaching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46304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grâce à l'IA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274320" y="34930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application combining freelance management &amp; personal finance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279392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SE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· 202</a:t>
            </a:r>
            <a:r>
              <a:rPr lang="en-SE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86200" y="777240"/>
            <a:ext cx="4983480" cy="3566160"/>
          </a:xfrm>
          <a:prstGeom prst="roundRect">
            <a:avLst>
              <a:gd name="adj" fmla="val 3846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960120"/>
            <a:ext cx="914400" cy="914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intelligente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85232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· Freelance · Finance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60520" y="1920240"/>
            <a:ext cx="4434840" cy="27432"/>
          </a:xfrm>
          <a:prstGeom prst="rect">
            <a:avLst/>
          </a:prstGeom>
          <a:solidFill>
            <a:srgbClr val="00C4A1">
              <a:alpha val="4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23360" y="21031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1A45CC">
              <a:alpha val="20000"/>
            </a:srgbClr>
          </a:solidFill>
          <a:ln w="12700">
            <a:solidFill>
              <a:srgbClr val="1A45CC">
                <a:alpha val="4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26771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233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2336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Invoice · AI Match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492240" y="21031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00C4A1">
              <a:alpha val="20000"/>
            </a:srgbClr>
          </a:solidFill>
          <a:ln w="12700">
            <a:solidFill>
              <a:srgbClr val="00C4A1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226771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92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FinCoach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9224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Forecast · AI Coach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LexWise — AI-Powered Platform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438912" cy="43891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243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12710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Us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280160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1883664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11480" y="1993392"/>
            <a:ext cx="438912" cy="43891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0116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0744" y="20391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Solution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048256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20040" y="265176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11480" y="2761488"/>
            <a:ext cx="438912" cy="43891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11480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2779776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0744" y="28072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816352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20040" y="3419856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11480" y="3529584"/>
            <a:ext cx="438912" cy="43891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1148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3547872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380744" y="35753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3584448"/>
            <a:ext cx="310896" cy="31089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320040" y="418795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11480" y="4297680"/>
            <a:ext cx="438912" cy="43891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41148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4315968"/>
            <a:ext cx="384048" cy="38404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380744" y="4343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4352544"/>
            <a:ext cx="310896" cy="310896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4754880" y="1115568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4846320" y="1225296"/>
            <a:ext cx="438912" cy="43891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4846320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4" y="1243584"/>
            <a:ext cx="384048" cy="38404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815584" y="12710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</a:t>
            </a:r>
            <a:endParaRPr lang="en-US" sz="13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1280160"/>
            <a:ext cx="310896" cy="310896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4754880" y="1883664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4846320" y="1993392"/>
            <a:ext cx="438912" cy="43891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484632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8384" y="2011680"/>
            <a:ext cx="384048" cy="38404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815584" y="20391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048256"/>
            <a:ext cx="310896" cy="310896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4754880" y="265176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4846320" y="2761488"/>
            <a:ext cx="438912" cy="43891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48" name="Text 32"/>
          <p:cNvSpPr/>
          <p:nvPr/>
        </p:nvSpPr>
        <p:spPr>
          <a:xfrm>
            <a:off x="4846320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8384" y="2779776"/>
            <a:ext cx="384048" cy="38404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5815584" y="28072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3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816352"/>
            <a:ext cx="310896" cy="310896"/>
          </a:xfrm>
          <a:prstGeom prst="rect">
            <a:avLst/>
          </a:prstGeom>
        </p:spPr>
      </p:pic>
      <p:sp>
        <p:nvSpPr>
          <p:cNvPr id="52" name="Shape 34"/>
          <p:cNvSpPr/>
          <p:nvPr/>
        </p:nvSpPr>
        <p:spPr>
          <a:xfrm>
            <a:off x="4754880" y="3419856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4846320" y="3529584"/>
            <a:ext cx="438912" cy="43891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54" name="Text 36"/>
          <p:cNvSpPr/>
          <p:nvPr/>
        </p:nvSpPr>
        <p:spPr>
          <a:xfrm>
            <a:off x="484632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8384" y="3547872"/>
            <a:ext cx="384048" cy="384048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>
            <a:off x="5815584" y="35753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SWOT</a:t>
            </a:r>
            <a:endParaRPr lang="en-US" sz="1300" dirty="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584448"/>
            <a:ext cx="310896" cy="310896"/>
          </a:xfrm>
          <a:prstGeom prst="rect">
            <a:avLst/>
          </a:prstGeom>
        </p:spPr>
      </p:pic>
      <p:sp>
        <p:nvSpPr>
          <p:cNvPr id="58" name="Shape 38"/>
          <p:cNvSpPr/>
          <p:nvPr/>
        </p:nvSpPr>
        <p:spPr>
          <a:xfrm>
            <a:off x="4754880" y="418795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59" name="Shape 39"/>
          <p:cNvSpPr/>
          <p:nvPr/>
        </p:nvSpPr>
        <p:spPr>
          <a:xfrm>
            <a:off x="4846320" y="4297680"/>
            <a:ext cx="438912" cy="43891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60" name="Text 40"/>
          <p:cNvSpPr/>
          <p:nvPr/>
        </p:nvSpPr>
        <p:spPr>
          <a:xfrm>
            <a:off x="48463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8384" y="4315968"/>
            <a:ext cx="384048" cy="384048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5815584" y="4343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1300" dirty="0"/>
          </a:p>
        </p:txBody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435254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"/>
            <a:ext cx="640080" cy="640080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74320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6868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60120"/>
            <a:ext cx="868680" cy="868680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11556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44752" y="1307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LexWise is built by a team of 4 passionate developers creating an AI platform that combines freelance management with personal financial coaching — two powerful tools, one seamless experience.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0040" y="2304288"/>
            <a:ext cx="429768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1A45CC">
                <a:alpha val="6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395728"/>
            <a:ext cx="640080" cy="640080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5328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450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 Side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21208" y="2944368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152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mission matching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21208" y="338328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1520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invoicing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21208" y="3822192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152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protection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21208" y="4261104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3152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reputation AI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92040" y="2304288"/>
            <a:ext cx="4297680" cy="257860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00C4A1">
                <a:alpha val="6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0" y="2395728"/>
            <a:ext cx="640080" cy="640080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253288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2450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FinCoach Side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093208" y="2944368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0352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financial dashboard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93208" y="3383280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03520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budget forecasts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93208" y="3822192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30352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savings tips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093208" y="426110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0352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banking API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577840" y="86868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5715000" y="932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5669280" y="1325880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66928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980176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669280" y="1664208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66928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980176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269480" y="1325880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26948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7580376" y="1344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269480" y="1664208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26948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7580376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Finance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8046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00C4A1">
              <a:alpha val="80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LexWise Solutions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4813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344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unified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16459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juggle 5+ apps — invoicing, contracts, scheduling and banking separately.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62272" y="153619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709160" y="128016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00C4A1">
              <a:alpha val="9000"/>
            </a:srgbClr>
          </a:solidFill>
          <a:ln w="12700">
            <a:solidFill>
              <a:srgbClr val="00C4A1">
                <a:alpha val="3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813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48656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All-in-one workspace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248656" y="16459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covers missions, invoices, contracts and financial coaching end-to-end.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503920" y="1536192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1A45CC">
              <a:alpha val="85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03920" y="153619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274320" y="2212848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1401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" y="22768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blindness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" y="25786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SMEs lack real-time visibility on cash flow and financial health.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462272" y="246888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709160" y="2212848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00C4A1">
              <a:alpha val="9000"/>
            </a:srgbClr>
          </a:solidFill>
          <a:ln w="12700">
            <a:solidFill>
              <a:srgbClr val="00C4A1">
                <a:alpha val="3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1401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48656" y="2276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AI dashboard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248656" y="257860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with predictive analytics and proactive budget alerts.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503920" y="2468880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00C4A1">
              <a:alpha val="85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503920" y="2468880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274320" y="3145536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34670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4672" y="3209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mismatch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04672" y="35112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freelance mission is slow and inefficient without smart filtering.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4462272" y="34015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4709160" y="3145536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00C4A1">
              <a:alpha val="9000"/>
            </a:srgbClr>
          </a:solidFill>
          <a:ln w="12700">
            <a:solidFill>
              <a:srgbClr val="00C4A1">
                <a:alpha val="30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46704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48656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AI matching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248656" y="35112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missions by analysing skills, history and preferences automatically.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8503920" y="3401568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1A45CC">
              <a:alpha val="85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503920" y="3401568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00" dirty="0"/>
          </a:p>
        </p:txBody>
      </p:sp>
      <p:sp>
        <p:nvSpPr>
          <p:cNvPr id="41" name="Shape 33"/>
          <p:cNvSpPr/>
          <p:nvPr/>
        </p:nvSpPr>
        <p:spPr>
          <a:xfrm>
            <a:off x="274320" y="4078224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279392"/>
            <a:ext cx="329184" cy="32918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04672" y="41422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&amp; tax overload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804672" y="4443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workers spend 30% of time on non-billable admin and tax tasks.</a:t>
            </a:r>
            <a:endParaRPr lang="en-US" sz="850" dirty="0"/>
          </a:p>
        </p:txBody>
      </p:sp>
      <p:sp>
        <p:nvSpPr>
          <p:cNvPr id="45" name="Text 36"/>
          <p:cNvSpPr/>
          <p:nvPr/>
        </p:nvSpPr>
        <p:spPr>
          <a:xfrm>
            <a:off x="4462272" y="433425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37"/>
          <p:cNvSpPr/>
          <p:nvPr/>
        </p:nvSpPr>
        <p:spPr>
          <a:xfrm>
            <a:off x="4709160" y="4078224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00C4A1">
              <a:alpha val="9000"/>
            </a:srgbClr>
          </a:solidFill>
          <a:ln w="12700">
            <a:solidFill>
              <a:srgbClr val="00C4A1">
                <a:alpha val="30000"/>
              </a:srgbClr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279392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248656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admin &amp; coaching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248656" y="444398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quotes, invoices, reminders and personalised financial advice.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8503920" y="4334256"/>
            <a:ext cx="603504" cy="228600"/>
          </a:xfrm>
          <a:prstGeom prst="roundRect">
            <a:avLst>
              <a:gd name="adj" fmla="val 16000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8503920" y="4334256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7782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04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 Module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33502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4048" y="1499616"/>
            <a:ext cx="438912" cy="438912"/>
          </a:xfrm>
          <a:prstGeom prst="ellipse">
            <a:avLst/>
          </a:prstGeom>
          <a:solidFill>
            <a:srgbClr val="1A45CC">
              <a:alpha val="85000"/>
            </a:srgbClr>
          </a:solidFill>
          <a:ln w="12700">
            <a:solidFill>
              <a:srgbClr val="1A45CC">
                <a:alpha val="8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6002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1408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Mission Matching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32688" y="17190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based on skills, history and preferences. Ranked list updated daily.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2231136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84048" y="2395728"/>
            <a:ext cx="438912" cy="438912"/>
          </a:xfrm>
          <a:prstGeom prst="ellipse">
            <a:avLst/>
          </a:prstGeom>
          <a:solidFill>
            <a:srgbClr val="1A45CC">
              <a:alpha val="85000"/>
            </a:srgbClr>
          </a:solidFill>
          <a:ln w="12700">
            <a:solidFill>
              <a:srgbClr val="1A45CC">
                <a:alpha val="85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4963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Profile &amp; Reputation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32688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portfolio with AI-computed credibility score visible to hiring companies.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3127248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84048" y="3291840"/>
            <a:ext cx="438912" cy="438912"/>
          </a:xfrm>
          <a:prstGeom prst="ellipse">
            <a:avLst/>
          </a:prstGeom>
          <a:solidFill>
            <a:srgbClr val="1A45CC">
              <a:alpha val="85000"/>
            </a:srgbClr>
          </a:solidFill>
          <a:ln w="12700">
            <a:solidFill>
              <a:srgbClr val="1A45CC">
                <a:alpha val="85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39242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Invoicing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32688" y="35112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quotes and invoices from contract data. Auto-reminders for late payments.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4320" y="4023360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84048" y="4187952"/>
            <a:ext cx="438912" cy="438912"/>
          </a:xfrm>
          <a:prstGeom prst="ellipse">
            <a:avLst/>
          </a:prstGeom>
          <a:solidFill>
            <a:srgbClr val="1A45CC">
              <a:alpha val="85000"/>
            </a:srgbClr>
          </a:solidFill>
          <a:ln w="12700">
            <a:solidFill>
              <a:srgbClr val="1A45CC">
                <a:alpha val="8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28853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2688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Protection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32688" y="44074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templates, risky clause alerts, digital signature support and secure archive.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709160" y="804672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877824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12080" y="804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FinCoach Module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4709160" y="1335024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818888" y="1499616"/>
            <a:ext cx="438912" cy="438912"/>
          </a:xfrm>
          <a:prstGeom prst="ellipse">
            <a:avLst/>
          </a:prstGeom>
          <a:solidFill>
            <a:srgbClr val="00C4A1">
              <a:alpha val="85000"/>
            </a:srgbClr>
          </a:solidFill>
          <a:ln w="12700">
            <a:solidFill>
              <a:srgbClr val="00C4A1">
                <a:alpha val="85000"/>
              </a:srgbClr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1600200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49240" y="1408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Financial Dashboard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349240" y="17190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view: income, expenses, savings and investments updated in real time via Open Banking.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709160" y="2231136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818888" y="2395728"/>
            <a:ext cx="438912" cy="438912"/>
          </a:xfrm>
          <a:prstGeom prst="ellipse">
            <a:avLst/>
          </a:prstGeom>
          <a:solidFill>
            <a:srgbClr val="00C4A1">
              <a:alpha val="85000"/>
            </a:srgbClr>
          </a:solidFill>
          <a:ln w="12700">
            <a:solidFill>
              <a:srgbClr val="00C4A1">
                <a:alpha val="85000"/>
              </a:srgbClr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2496312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34924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Forecasts &amp; Alerts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349240" y="26151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for 3/6/12 months. Proactive alerts before budget overrun.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709160" y="3127248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4818888" y="3291840"/>
            <a:ext cx="438912" cy="438912"/>
          </a:xfrm>
          <a:prstGeom prst="ellipse">
            <a:avLst/>
          </a:prstGeom>
          <a:solidFill>
            <a:srgbClr val="00C4A1">
              <a:alpha val="85000"/>
            </a:srgbClr>
          </a:solidFill>
          <a:ln w="12700">
            <a:solidFill>
              <a:srgbClr val="00C4A1">
                <a:alpha val="8500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392424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3492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Advice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5349240" y="35112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optimisation, savings plans and investment tips tailored to each user profile.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709160" y="4023360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4818888" y="4187952"/>
            <a:ext cx="438912" cy="438912"/>
          </a:xfrm>
          <a:prstGeom prst="ellipse">
            <a:avLst/>
          </a:prstGeom>
          <a:solidFill>
            <a:srgbClr val="00C4A1">
              <a:alpha val="85000"/>
            </a:srgbClr>
          </a:solidFill>
          <a:ln w="12700">
            <a:solidFill>
              <a:srgbClr val="00C4A1">
                <a:alpha val="85000"/>
              </a:srgbClr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4288536"/>
            <a:ext cx="256032" cy="25603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5349240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GDPR</a:t>
            </a:r>
            <a:endParaRPr lang="en-US" sz="1100" dirty="0"/>
          </a:p>
        </p:txBody>
      </p:sp>
      <p:sp>
        <p:nvSpPr>
          <p:cNvPr id="49" name="Text 37"/>
          <p:cNvSpPr/>
          <p:nvPr/>
        </p:nvSpPr>
        <p:spPr>
          <a:xfrm>
            <a:off x="5349240" y="44074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zero data resale, full GDPR compliance and user data control.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3776AB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58368" cy="658368"/>
          </a:xfrm>
          <a:prstGeom prst="ellipse">
            <a:avLst/>
          </a:prstGeom>
          <a:solidFill>
            <a:srgbClr val="3776AB">
              <a:alpha val="80000"/>
            </a:srgbClr>
          </a:solidFill>
          <a:ln w="12700">
            <a:solidFill>
              <a:srgbClr val="3776AB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43000" y="128016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3776AB">
              <a:alpha val="80000"/>
            </a:srgbClr>
          </a:solidFill>
          <a:ln w="12700">
            <a:solidFill>
              <a:srgbClr val="3776AB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12801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6824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Clean syntax, massive AI/ML ecosystem. Powers our backend logic, AI pipelines and data processing.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4048" y="221284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" y="228600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mission matching algorithm, invoice generation logic and contract parsing.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84048" y="252374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478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financial forecasting models, spending categorisation and GDPR data management.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227832" y="82296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888888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64992" y="960120"/>
            <a:ext cx="658368" cy="658368"/>
          </a:xfrm>
          <a:prstGeom prst="ellipse">
            <a:avLst/>
          </a:prstGeom>
          <a:solidFill>
            <a:srgbClr val="888888">
              <a:alpha val="80000"/>
            </a:srgbClr>
          </a:solidFill>
          <a:ln w="12700">
            <a:solidFill>
              <a:srgbClr val="888888">
                <a:alpha val="60000"/>
              </a:srgbClr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051560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96512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096512" y="128016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888888">
              <a:alpha val="80000"/>
            </a:srgbClr>
          </a:solidFill>
          <a:ln w="12700">
            <a:solidFill>
              <a:srgbClr val="888888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96512" y="12801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337560" y="16824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Lightweight micro-framework. Fast to develop, easy to scale with blueprints and REST architecture.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337560" y="221284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7560" y="228600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29584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for profile, missions, invoices and notifications.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337560" y="252374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29584" y="2478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for transactions, budget categories, AI advice and bank sync.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181344" y="82296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003B57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18504" y="960120"/>
            <a:ext cx="658368" cy="658368"/>
          </a:xfrm>
          <a:prstGeom prst="ellipse">
            <a:avLst/>
          </a:prstGeom>
          <a:solidFill>
            <a:srgbClr val="003B57">
              <a:alpha val="80000"/>
            </a:srgbClr>
          </a:solidFill>
          <a:ln w="12700">
            <a:solidFill>
              <a:srgbClr val="003B57">
                <a:alpha val="60000"/>
              </a:srgbClr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051560"/>
            <a:ext cx="475488" cy="4754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50024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050024" y="128016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003B57">
              <a:alpha val="80000"/>
            </a:srgbClr>
          </a:solidFill>
          <a:ln w="12700">
            <a:solidFill>
              <a:srgbClr val="003B57">
                <a:alpha val="6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050024" y="12801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6291072" y="16824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Zero-config embedded database. Perfect for MVP and local-first architecture with easy migration path.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6291072" y="221284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291072" y="228600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83096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profiles, mission history, contracts and invoice records.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6291072" y="252374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83096" y="24780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transaction history, budget rules, AI advice logs and savings goals.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274320" y="292608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E34F26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11480" y="3063240"/>
            <a:ext cx="658368" cy="658368"/>
          </a:xfrm>
          <a:prstGeom prst="ellipse">
            <a:avLst/>
          </a:prstGeom>
          <a:solidFill>
            <a:srgbClr val="E34F26">
              <a:alpha val="80000"/>
            </a:srgbClr>
          </a:solidFill>
          <a:ln w="12700">
            <a:solidFill>
              <a:srgbClr val="E34F26">
                <a:alpha val="60000"/>
              </a:srgbClr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54680"/>
            <a:ext cx="475488" cy="4754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14300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1143000" y="338328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E34F26">
              <a:alpha val="80000"/>
            </a:srgbClr>
          </a:solidFill>
          <a:ln w="12700">
            <a:solidFill>
              <a:srgbClr val="E34F26">
                <a:alpha val="60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1143000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384048" y="37856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Semantic markup with Jinja2 server-side templating for fast, SEO-friendly page rendering.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384048" y="431596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84048" y="438912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76072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board, profile pages, invoice view and contract preview.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384048" y="462686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576072" y="45811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charts, spending overview and financial report pages.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3227832" y="292608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1572B6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3364992" y="3063240"/>
            <a:ext cx="658368" cy="658368"/>
          </a:xfrm>
          <a:prstGeom prst="ellipse">
            <a:avLst/>
          </a:prstGeom>
          <a:solidFill>
            <a:srgbClr val="1572B6">
              <a:alpha val="80000"/>
            </a:srgbClr>
          </a:solidFill>
          <a:ln w="12700">
            <a:solidFill>
              <a:srgbClr val="1572B6">
                <a:alpha val="60000"/>
              </a:srgbClr>
            </a:solidFill>
            <a:prstDash val="solid"/>
          </a:ln>
        </p:spPr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154680"/>
            <a:ext cx="475488" cy="47548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096512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4096512" y="338328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1572B6">
              <a:alpha val="80000"/>
            </a:srgbClr>
          </a:solidFill>
          <a:ln w="12700">
            <a:solidFill>
              <a:srgbClr val="1572B6">
                <a:alpha val="60000"/>
              </a:srgbClr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4096512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50" dirty="0"/>
          </a:p>
        </p:txBody>
      </p:sp>
      <p:sp>
        <p:nvSpPr>
          <p:cNvPr id="58" name="Text 51"/>
          <p:cNvSpPr/>
          <p:nvPr/>
        </p:nvSpPr>
        <p:spPr>
          <a:xfrm>
            <a:off x="3337560" y="37856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Responsive layouts, smooth animations and a consistent design system with CSS variables.</a:t>
            </a:r>
            <a:endParaRPr lang="en-US" sz="800" dirty="0"/>
          </a:p>
        </p:txBody>
      </p:sp>
      <p:sp>
        <p:nvSpPr>
          <p:cNvPr id="59" name="Shape 52"/>
          <p:cNvSpPr/>
          <p:nvPr/>
        </p:nvSpPr>
        <p:spPr>
          <a:xfrm>
            <a:off x="3337560" y="431596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3337560" y="438912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3529584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card grid, badge system, mobile-first profile layout.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3337560" y="462686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3529584" y="45811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styling, progress bars, alert colour system and dark/light mode.</a:t>
            </a:r>
            <a:endParaRPr lang="en-US" sz="750" dirty="0"/>
          </a:p>
        </p:txBody>
      </p:sp>
      <p:sp>
        <p:nvSpPr>
          <p:cNvPr id="64" name="Shape 57"/>
          <p:cNvSpPr/>
          <p:nvPr/>
        </p:nvSpPr>
        <p:spPr>
          <a:xfrm>
            <a:off x="6181344" y="2926080"/>
            <a:ext cx="2816352" cy="1965960"/>
          </a:xfrm>
          <a:prstGeom prst="roundRect">
            <a:avLst>
              <a:gd name="adj" fmla="val 4651"/>
            </a:avLst>
          </a:prstGeom>
          <a:solidFill>
            <a:srgbClr val="132040"/>
          </a:solidFill>
          <a:ln w="12700">
            <a:solidFill>
              <a:srgbClr val="F7DF1E">
                <a:alpha val="35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6318504" y="3063240"/>
            <a:ext cx="658368" cy="658368"/>
          </a:xfrm>
          <a:prstGeom prst="ellipse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>
                <a:alpha val="60000"/>
              </a:srgbClr>
            </a:solidFill>
            <a:prstDash val="solid"/>
          </a:ln>
        </p:spPr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154680"/>
            <a:ext cx="475488" cy="475488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7050024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68" name="Shape 60"/>
          <p:cNvSpPr/>
          <p:nvPr/>
        </p:nvSpPr>
        <p:spPr>
          <a:xfrm>
            <a:off x="7050024" y="338328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7DF1E">
              <a:alpha val="80000"/>
            </a:srgbClr>
          </a:solidFill>
          <a:ln w="12700">
            <a:solidFill>
              <a:srgbClr val="F7DF1E">
                <a:alpha val="60000"/>
              </a:srgbClr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7050024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ES2024</a:t>
            </a:r>
            <a:endParaRPr lang="en-US" sz="750" dirty="0"/>
          </a:p>
        </p:txBody>
      </p:sp>
      <p:sp>
        <p:nvSpPr>
          <p:cNvPr id="70" name="Text 62"/>
          <p:cNvSpPr/>
          <p:nvPr/>
        </p:nvSpPr>
        <p:spPr>
          <a:xfrm>
            <a:off x="6291072" y="378561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Dynamic UX with fetch API, real-time chart updates and interactive AI chatbot widget.</a:t>
            </a:r>
            <a:endParaRPr lang="en-US" sz="800" dirty="0"/>
          </a:p>
        </p:txBody>
      </p:sp>
      <p:sp>
        <p:nvSpPr>
          <p:cNvPr id="71" name="Shape 63"/>
          <p:cNvSpPr/>
          <p:nvPr/>
        </p:nvSpPr>
        <p:spPr>
          <a:xfrm>
            <a:off x="6291072" y="4315968"/>
            <a:ext cx="260604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6291072" y="4389120"/>
            <a:ext cx="128016" cy="128016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6483096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mission filtering, invoice PDF export and notification push.</a:t>
            </a:r>
            <a:endParaRPr lang="en-US" sz="750" dirty="0"/>
          </a:p>
        </p:txBody>
      </p:sp>
      <p:sp>
        <p:nvSpPr>
          <p:cNvPr id="74" name="Shape 66"/>
          <p:cNvSpPr/>
          <p:nvPr/>
        </p:nvSpPr>
        <p:spPr>
          <a:xfrm>
            <a:off x="6291072" y="4626864"/>
            <a:ext cx="128016" cy="128016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6483096" y="45811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graph updates, budget sliders and AI coaching chat interface.</a:t>
            </a:r>
            <a:endParaRPr lang="en-US" sz="750" dirty="0"/>
          </a:p>
        </p:txBody>
      </p:sp>
      <p:sp>
        <p:nvSpPr>
          <p:cNvPr id="76" name="Shape 68"/>
          <p:cNvSpPr/>
          <p:nvPr/>
        </p:nvSpPr>
        <p:spPr>
          <a:xfrm>
            <a:off x="320040" y="4873752"/>
            <a:ext cx="146304" cy="146304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77" name="Text 69"/>
          <p:cNvSpPr/>
          <p:nvPr/>
        </p:nvSpPr>
        <p:spPr>
          <a:xfrm>
            <a:off x="530352" y="4837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850" dirty="0"/>
          </a:p>
        </p:txBody>
      </p:sp>
      <p:sp>
        <p:nvSpPr>
          <p:cNvPr id="78" name="Shape 70"/>
          <p:cNvSpPr/>
          <p:nvPr/>
        </p:nvSpPr>
        <p:spPr>
          <a:xfrm>
            <a:off x="1600200" y="4873752"/>
            <a:ext cx="146304" cy="146304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1810512" y="4837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32688"/>
          </a:xfrm>
          <a:prstGeom prst="roundRect">
            <a:avLst>
              <a:gd name="adj" fmla="val 8824"/>
            </a:avLst>
          </a:prstGeom>
          <a:solidFill>
            <a:srgbClr val="1A45CC">
              <a:alpha val="12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82296" cy="932688"/>
          </a:xfrm>
          <a:prstGeom prst="rect">
            <a:avLst/>
          </a:prstGeom>
          <a:solidFill>
            <a:srgbClr val="1A45CC">
              <a:alpha val="70000"/>
            </a:srgbClr>
          </a:solidFill>
          <a:ln w="12700">
            <a:solidFill>
              <a:srgbClr val="1A45CC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06424"/>
            <a:ext cx="457200" cy="457200"/>
          </a:xfrm>
          <a:prstGeom prst="ellipse">
            <a:avLst/>
          </a:prstGeom>
          <a:solidFill>
            <a:srgbClr val="1A45CC">
              <a:alpha val="75000"/>
            </a:srgbClr>
          </a:solidFill>
          <a:ln w="12700">
            <a:solidFill>
              <a:srgbClr val="1A45CC">
                <a:alpha val="7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941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7552" y="129844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HTML5 + Jinja2 templates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87552" y="14721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CSS3 responsive UI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87552" y="164592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JavaScript — Dynamic interactions &amp; charts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43400" y="18013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929384"/>
            <a:ext cx="8595360" cy="932688"/>
          </a:xfrm>
          <a:prstGeom prst="roundRect">
            <a:avLst>
              <a:gd name="adj" fmla="val 8824"/>
            </a:avLst>
          </a:prstGeom>
          <a:solidFill>
            <a:srgbClr val="555555">
              <a:alpha val="12000"/>
            </a:srgbClr>
          </a:solidFill>
          <a:ln w="12700">
            <a:solidFill>
              <a:srgbClr val="555555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1929384"/>
            <a:ext cx="82296" cy="932688"/>
          </a:xfrm>
          <a:prstGeom prst="rect">
            <a:avLst/>
          </a:prstGeom>
          <a:solidFill>
            <a:srgbClr val="555555">
              <a:alpha val="70000"/>
            </a:srgbClr>
          </a:solidFill>
          <a:ln w="12700">
            <a:solidFill>
              <a:srgbClr val="555555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2167128"/>
            <a:ext cx="457200" cy="457200"/>
          </a:xfrm>
          <a:prstGeom prst="ellipse">
            <a:avLst/>
          </a:prstGeom>
          <a:solidFill>
            <a:srgbClr val="555555">
              <a:alpha val="75000"/>
            </a:srgbClr>
          </a:solidFill>
          <a:ln w="12700">
            <a:solidFill>
              <a:srgbClr val="555555">
                <a:alpha val="7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26771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87552" y="20025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 (Flask)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87552" y="23591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REST API Blueprint routes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87552" y="25328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Authentication middleware (JWT)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87552" y="270662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Business logic — matching, invoicing, coaching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343400" y="28620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2990088"/>
            <a:ext cx="8595360" cy="932688"/>
          </a:xfrm>
          <a:prstGeom prst="roundRect">
            <a:avLst>
              <a:gd name="adj" fmla="val 8824"/>
            </a:avLst>
          </a:prstGeom>
          <a:solidFill>
            <a:srgbClr val="00C4A1">
              <a:alpha val="12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2990088"/>
            <a:ext cx="82296" cy="932688"/>
          </a:xfrm>
          <a:prstGeom prst="rect">
            <a:avLst/>
          </a:prstGeom>
          <a:solidFill>
            <a:srgbClr val="00C4A1">
              <a:alpha val="70000"/>
            </a:srgbClr>
          </a:solidFill>
          <a:ln w="12700">
            <a:solidFill>
              <a:srgbClr val="00C4A1">
                <a:alpha val="7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3227832"/>
            <a:ext cx="457200" cy="457200"/>
          </a:xfrm>
          <a:prstGeom prst="ellipse">
            <a:avLst/>
          </a:prstGeom>
          <a:solidFill>
            <a:srgbClr val="00C4A1">
              <a:alpha val="75000"/>
            </a:srgbClr>
          </a:solidFill>
          <a:ln w="12700">
            <a:solidFill>
              <a:srgbClr val="00C4A1">
                <a:alpha val="75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328416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7552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Intelligence Layer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87552" y="34198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Python NLP pipeline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987552" y="359359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Recommendation engine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987552" y="37673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343400" y="39227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274320" y="4050792"/>
            <a:ext cx="8595360" cy="932688"/>
          </a:xfrm>
          <a:prstGeom prst="roundRect">
            <a:avLst>
              <a:gd name="adj" fmla="val 8824"/>
            </a:avLst>
          </a:prstGeom>
          <a:solidFill>
            <a:srgbClr val="003B57">
              <a:alpha val="12000"/>
            </a:srgbClr>
          </a:solidFill>
          <a:ln w="12700">
            <a:solidFill>
              <a:srgbClr val="003B57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74320" y="4050792"/>
            <a:ext cx="82296" cy="932688"/>
          </a:xfrm>
          <a:prstGeom prst="rect">
            <a:avLst/>
          </a:prstGeom>
          <a:solidFill>
            <a:srgbClr val="003B57">
              <a:alpha val="70000"/>
            </a:srgbClr>
          </a:solidFill>
          <a:ln w="12700">
            <a:solidFill>
              <a:srgbClr val="003B57">
                <a:alpha val="7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11480" y="4288536"/>
            <a:ext cx="457200" cy="457200"/>
          </a:xfrm>
          <a:prstGeom prst="ellipse">
            <a:avLst/>
          </a:prstGeom>
          <a:solidFill>
            <a:srgbClr val="003B57">
              <a:alpha val="75000"/>
            </a:srgbClr>
          </a:solidFill>
          <a:ln w="12700">
            <a:solidFill>
              <a:srgbClr val="003B57">
                <a:alpha val="75000"/>
              </a:srgbClr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38912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87552" y="4123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 (SQLite)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87552" y="448056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 &amp; profile data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87552" y="465429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Transactions &amp; invoices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987552" y="48280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Mission history &amp; AI logs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274320" y="5120640"/>
            <a:ext cx="4160520" cy="164592"/>
          </a:xfrm>
          <a:prstGeom prst="roundRect">
            <a:avLst>
              <a:gd name="adj" fmla="val 22222"/>
            </a:avLst>
          </a:prstGeom>
          <a:solidFill>
            <a:srgbClr val="1A45CC">
              <a:alpha val="2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74320" y="51206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Freelance: /freelance/* routes — missions, invoices, contracts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4709160" y="5120640"/>
            <a:ext cx="4160520" cy="164592"/>
          </a:xfrm>
          <a:prstGeom prst="roundRect">
            <a:avLst>
              <a:gd name="adj" fmla="val 22222"/>
            </a:avLst>
          </a:prstGeom>
          <a:solidFill>
            <a:srgbClr val="00C4A1">
              <a:alpha val="2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709160" y="512064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FinCoach: /finance/* routes — budgets, forecasts, AI coaching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1A45CC">
              <a:alpha val="85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36192" y="1216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1907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00C4A1">
              <a:alpha val="85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99232" y="1216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8211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1A45CC">
              <a:alpha val="85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Embeddings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62272" y="1216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515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00C4A1">
              <a:alpha val="85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5312" y="1216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1A45CC">
              <a:alpha val="85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88352" y="1216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71232" y="1143000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00C4A1">
              <a:alpha val="85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14300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691640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1A45CC">
              <a:alpha val="82000"/>
            </a:srgbClr>
          </a:solidFill>
          <a:ln w="12700">
            <a:solidFill>
              <a:srgbClr val="1A45CC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73936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13232" y="16916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 AI Engine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74320" y="216712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2276856"/>
            <a:ext cx="420624" cy="420624"/>
          </a:xfrm>
          <a:prstGeom prst="ellipse">
            <a:avLst/>
          </a:prstGeom>
          <a:solidFill>
            <a:srgbClr val="1A45CC">
              <a:alpha val="75000"/>
            </a:srgbClr>
          </a:solidFill>
          <a:ln w="12700">
            <a:solidFill>
              <a:srgbClr val="1A45CC">
                <a:alpha val="75000"/>
              </a:srgbClr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8296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68680" y="22219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Recommender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868680" y="24963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ranks 1000s of missions vs your profile in milliseconds.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4320" y="289864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65760" y="3008376"/>
            <a:ext cx="420624" cy="420624"/>
          </a:xfrm>
          <a:prstGeom prst="ellipse">
            <a:avLst/>
          </a:prstGeom>
          <a:solidFill>
            <a:srgbClr val="1A45CC">
              <a:alpha val="75000"/>
            </a:srgbClr>
          </a:solidFill>
          <a:ln w="12700">
            <a:solidFill>
              <a:srgbClr val="1A45CC">
                <a:alpha val="75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9816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8680" y="295351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AI Generator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68680" y="32278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NLG fills invoices from contract JSON. Zero manual input.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274320" y="363016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65760" y="3739896"/>
            <a:ext cx="420624" cy="420624"/>
          </a:xfrm>
          <a:prstGeom prst="ellipse">
            <a:avLst/>
          </a:prstGeom>
          <a:solidFill>
            <a:srgbClr val="1A45CC">
              <a:alpha val="75000"/>
            </a:srgbClr>
          </a:solidFill>
          <a:ln w="12700">
            <a:solidFill>
              <a:srgbClr val="1A45CC">
                <a:alpha val="75000"/>
              </a:srgbClr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31336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68680" y="3685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Negotiation Coach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68680" y="39593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response scripts for rate negotiation and client objections.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274320" y="436168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65760" y="4471416"/>
            <a:ext cx="420624" cy="420624"/>
          </a:xfrm>
          <a:prstGeom prst="ellipse">
            <a:avLst/>
          </a:prstGeom>
          <a:solidFill>
            <a:srgbClr val="1A45CC">
              <a:alpha val="75000"/>
            </a:srgbClr>
          </a:solidFill>
          <a:ln w="12700">
            <a:solidFill>
              <a:srgbClr val="1A45CC">
                <a:alpha val="75000"/>
              </a:srgbClr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562856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68680" y="44165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Risk Scanner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868680" y="4690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 flags problematic clauses (non-compete, liability caps, IP transfer).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736592" y="1691640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00C4A1">
              <a:alpha val="82000"/>
            </a:srgbClr>
          </a:solidFill>
          <a:ln w="12700">
            <a:solidFill>
              <a:srgbClr val="00C4A1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773936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175504" y="16916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FinCoach AI Engine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4736592" y="216712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3500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828032" y="2276856"/>
            <a:ext cx="420624" cy="420624"/>
          </a:xfrm>
          <a:prstGeom prst="ellipse">
            <a:avLst/>
          </a:prstGeom>
          <a:solidFill>
            <a:srgbClr val="00C4A1">
              <a:alpha val="75000"/>
            </a:srgbClr>
          </a:solidFill>
          <a:ln w="12700">
            <a:solidFill>
              <a:srgbClr val="00C4A1">
                <a:alpha val="75000"/>
              </a:srgbClr>
            </a:solidFill>
            <a:prstDash val="solid"/>
          </a:ln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2368296"/>
            <a:ext cx="237744" cy="23774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330952" y="22219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Spending Categoriser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5330952" y="24963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ML model auto-tags transactions into 12 spending categories.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4736592" y="289864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3500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828032" y="3008376"/>
            <a:ext cx="420624" cy="420624"/>
          </a:xfrm>
          <a:prstGeom prst="ellipse">
            <a:avLst/>
          </a:prstGeom>
          <a:solidFill>
            <a:srgbClr val="00C4A1">
              <a:alpha val="75000"/>
            </a:srgbClr>
          </a:solidFill>
          <a:ln w="12700">
            <a:solidFill>
              <a:srgbClr val="00C4A1">
                <a:alpha val="75000"/>
              </a:srgbClr>
            </a:solidFill>
            <a:prstDash val="solid"/>
          </a:ln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099816"/>
            <a:ext cx="237744" cy="23774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330952" y="295351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Forecaster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5330952" y="32278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time-series model predicts monthly cash flow 3–12 months ahead.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4736592" y="363016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35000"/>
              </a:srgbClr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4828032" y="3739896"/>
            <a:ext cx="420624" cy="420624"/>
          </a:xfrm>
          <a:prstGeom prst="ellipse">
            <a:avLst/>
          </a:prstGeom>
          <a:solidFill>
            <a:srgbClr val="00C4A1">
              <a:alpha val="75000"/>
            </a:srgbClr>
          </a:solidFill>
          <a:ln w="12700">
            <a:solidFill>
              <a:srgbClr val="00C4A1">
                <a:alpha val="75000"/>
              </a:srgbClr>
            </a:solidFill>
            <a:prstDash val="solid"/>
          </a:ln>
        </p:spPr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3831336"/>
            <a:ext cx="237744" cy="237744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5330952" y="3685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Advice Generator</a:t>
            </a:r>
            <a:endParaRPr lang="en-US" sz="1000" dirty="0"/>
          </a:p>
        </p:txBody>
      </p:sp>
      <p:sp>
        <p:nvSpPr>
          <p:cNvPr id="62" name="Text 51"/>
          <p:cNvSpPr/>
          <p:nvPr/>
        </p:nvSpPr>
        <p:spPr>
          <a:xfrm>
            <a:off x="5330952" y="39593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LLM produces personalised saving tips and tax hints.</a:t>
            </a:r>
            <a:endParaRPr lang="en-US" sz="850" dirty="0"/>
          </a:p>
        </p:txBody>
      </p:sp>
      <p:sp>
        <p:nvSpPr>
          <p:cNvPr id="63" name="Shape 52"/>
          <p:cNvSpPr/>
          <p:nvPr/>
        </p:nvSpPr>
        <p:spPr>
          <a:xfrm>
            <a:off x="4736592" y="4361688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35000"/>
              </a:srgbClr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4828032" y="4471416"/>
            <a:ext cx="420624" cy="420624"/>
          </a:xfrm>
          <a:prstGeom prst="ellipse">
            <a:avLst/>
          </a:prstGeom>
          <a:solidFill>
            <a:srgbClr val="00C4A1">
              <a:alpha val="75000"/>
            </a:srgbClr>
          </a:solidFill>
          <a:ln w="12700">
            <a:solidFill>
              <a:srgbClr val="00C4A1">
                <a:alpha val="75000"/>
              </a:srgbClr>
            </a:solidFill>
            <a:prstDash val="solid"/>
          </a:ln>
        </p:spPr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9472" y="4562856"/>
            <a:ext cx="237744" cy="237744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5330952" y="44165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Tracker</a:t>
            </a:r>
            <a:endParaRPr lang="en-US" sz="1000" dirty="0"/>
          </a:p>
        </p:txBody>
      </p:sp>
      <p:sp>
        <p:nvSpPr>
          <p:cNvPr id="67" name="Text 55"/>
          <p:cNvSpPr/>
          <p:nvPr/>
        </p:nvSpPr>
        <p:spPr>
          <a:xfrm>
            <a:off x="5330952" y="4690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saving goals and nudges user with milestones and reforecasts.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— CIA Triad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4592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78992" y="868680"/>
            <a:ext cx="1005840" cy="1005840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56032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6032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protected from unauthorised access.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" y="2633472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35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27066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47472" y="3465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data in transit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7472" y="3785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— role-based access control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7472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tokens with short expiry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7472" y="4443984"/>
            <a:ext cx="2514600" cy="9144"/>
          </a:xfrm>
          <a:prstGeom prst="rect">
            <a:avLst/>
          </a:prstGeom>
          <a:solidFill>
            <a:srgbClr val="1A45CC">
              <a:alpha val="50000"/>
            </a:srgbClr>
          </a:solidFill>
          <a:ln w="12700">
            <a:solidFill>
              <a:srgbClr val="1A45CC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7472" y="45079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4714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contracts, personal data and bank details encrypted per user.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347472" y="4736592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47000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records, transaction history and AI logs encrypted at field level.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050792" y="868680"/>
            <a:ext cx="1005840" cy="1005840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50792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3227832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227832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accurate and cannot be tampered with.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27832" y="2633472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35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70662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319272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HMAC signatures on API requests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319272" y="3465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transactions with checksums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319272" y="3785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logs for every write operation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319272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Input validation and sanitisation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319272" y="4443984"/>
            <a:ext cx="2514600" cy="9144"/>
          </a:xfrm>
          <a:prstGeom prst="rect">
            <a:avLst/>
          </a:prstGeom>
          <a:solidFill>
            <a:srgbClr val="00C4A1">
              <a:alpha val="50000"/>
            </a:srgbClr>
          </a:solidFill>
          <a:ln w="12700">
            <a:solidFill>
              <a:srgbClr val="00C4A1">
                <a:alpha val="5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319272" y="45079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483864" y="44714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amounts and contract terms cannot be altered post-signature.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3319272" y="4736592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483864" y="47000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 are immutable once synced from bank API.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7022592" y="868680"/>
            <a:ext cx="1005840" cy="10058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022592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4000" dirty="0"/>
          </a:p>
        </p:txBody>
      </p:sp>
      <p:sp>
        <p:nvSpPr>
          <p:cNvPr id="37" name="Text 32"/>
          <p:cNvSpPr/>
          <p:nvPr/>
        </p:nvSpPr>
        <p:spPr>
          <a:xfrm>
            <a:off x="6199632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199632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accessible when users need it.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199632" y="2633472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2706624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91072" y="3145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Multi-region deployment (cloud)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6291072" y="34655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uptime SLA target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291072" y="37856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failover &amp; health checks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6291072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backups with 1-hour RPO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291072" y="4443984"/>
            <a:ext cx="2514600" cy="9144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291072" y="45079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55664" y="44714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board and invoicing always reachable, even during peak hours.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6291072" y="4736592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455664" y="47000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accessible 24/7 with offline-first data caching.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1261872" y="1371600"/>
            <a:ext cx="1965960" cy="0"/>
          </a:xfrm>
          <a:prstGeom prst="line">
            <a:avLst/>
          </a:prstGeom>
          <a:noFill/>
          <a:ln w="12700">
            <a:solidFill>
              <a:srgbClr val="7A8CB5"/>
            </a:solidFill>
            <a:prstDash val="sysDash"/>
          </a:ln>
        </p:spPr>
      </p:sp>
      <p:sp>
        <p:nvSpPr>
          <p:cNvPr id="51" name="Shape 45"/>
          <p:cNvSpPr/>
          <p:nvPr/>
        </p:nvSpPr>
        <p:spPr>
          <a:xfrm>
            <a:off x="4233672" y="1371600"/>
            <a:ext cx="1965960" cy="0"/>
          </a:xfrm>
          <a:prstGeom prst="line">
            <a:avLst/>
          </a:prstGeom>
          <a:noFill/>
          <a:ln w="12700">
            <a:solidFill>
              <a:srgbClr val="7A8CB5"/>
            </a:solidFill>
            <a:prstDash val="sys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— OWASP Top 10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4592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04672"/>
            <a:ext cx="2834640" cy="4251960"/>
          </a:xfrm>
          <a:prstGeom prst="roundRect">
            <a:avLst>
              <a:gd name="adj" fmla="val 3226"/>
            </a:avLst>
          </a:prstGeom>
          <a:solidFill>
            <a:srgbClr val="E63946">
              <a:alpha val="7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804672"/>
            <a:ext cx="2834640" cy="438912"/>
          </a:xfrm>
          <a:prstGeom prst="roundRect">
            <a:avLst>
              <a:gd name="adj" fmla="val 20833"/>
            </a:avLst>
          </a:prstGeom>
          <a:solidFill>
            <a:srgbClr val="E63946">
              <a:alpha val="82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04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13432" y="905256"/>
            <a:ext cx="667512" cy="2286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13432" y="905256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1335024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1752" y="190195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Broken Access Control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0040" y="226771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gain access to resources or actions beyond their granted permissions — most dangerous OWASP risk.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20040" y="27614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Privilege escalation · Admin takeover · Data breach of all users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0040" y="3090672"/>
            <a:ext cx="2633472" cy="18288"/>
          </a:xfrm>
          <a:prstGeom prst="rect">
            <a:avLst/>
          </a:prstGeom>
          <a:solidFill>
            <a:srgbClr val="E63946">
              <a:alpha val="45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31455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Mitigations: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0040" y="34107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enforced on every Flask route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20040" y="36850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Deny-by-default policy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0040" y="395935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token validation per request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004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 on sensitive operations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4572000"/>
            <a:ext cx="2633472" cy="9144"/>
          </a:xfrm>
          <a:prstGeom prst="rect">
            <a:avLst/>
          </a:prstGeom>
          <a:solidFill>
            <a:srgbClr val="E63946">
              <a:alpha val="45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4636008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" y="4608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freelancers from viewing other clients' contracts or invoices.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20040" y="4882896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4632" y="48554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cross-account access to financial data and bank tokens.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3200400" y="804672"/>
            <a:ext cx="2834640" cy="4251960"/>
          </a:xfrm>
          <a:prstGeom prst="roundRect">
            <a:avLst>
              <a:gd name="adj" fmla="val 3226"/>
            </a:avLst>
          </a:prstGeom>
          <a:solidFill>
            <a:srgbClr val="E07B39">
              <a:alpha val="7000"/>
            </a:srgbClr>
          </a:solidFill>
          <a:ln w="12700">
            <a:solidFill>
              <a:srgbClr val="E07B39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0" y="804672"/>
            <a:ext cx="2834640" cy="438912"/>
          </a:xfrm>
          <a:prstGeom prst="roundRect">
            <a:avLst>
              <a:gd name="adj" fmla="val 20833"/>
            </a:avLst>
          </a:prstGeom>
          <a:solidFill>
            <a:srgbClr val="E07B39">
              <a:alpha val="8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91840" y="804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A03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285232" y="905256"/>
            <a:ext cx="667512" cy="228600"/>
          </a:xfrm>
          <a:prstGeom prst="roundRect">
            <a:avLst>
              <a:gd name="adj" fmla="val 20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85232" y="905256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335024"/>
            <a:ext cx="475488" cy="4754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273552" y="190195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291840" y="226771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user input is interpreted as a command or query — affects SQL, NoSQL, OS commands and more.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3291840" y="27614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exfiltration · DB corruption · Remote code execution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291840" y="3090672"/>
            <a:ext cx="2633472" cy="18288"/>
          </a:xfrm>
          <a:prstGeom prst="rect">
            <a:avLst/>
          </a:prstGeom>
          <a:solidFill>
            <a:srgbClr val="E07B39">
              <a:alpha val="45000"/>
            </a:srgbClr>
          </a:solidFill>
          <a:ln w="12700">
            <a:solidFill>
              <a:srgbClr val="E07B39">
                <a:alpha val="45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291840" y="31455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Mitigations: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3291840" y="34107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Parameterised queries (SQLAlchemy ORM)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3291840" y="36850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Input validation on all endpoints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3291840" y="395935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Escape special characters in output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329184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Disable raw SQL fallback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3291840" y="4572000"/>
            <a:ext cx="2633472" cy="9144"/>
          </a:xfrm>
          <a:prstGeom prst="rect">
            <a:avLst/>
          </a:prstGeom>
          <a:solidFill>
            <a:srgbClr val="E07B39">
              <a:alpha val="45000"/>
            </a:srgbClr>
          </a:solidFill>
          <a:ln w="12700">
            <a:solidFill>
              <a:srgbClr val="E07B39">
                <a:alpha val="4500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91840" y="4636008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456432" y="4608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SQL injection via mission search filters and invoice forms.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3291840" y="4882896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456432" y="48554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injection via budget category names and transaction import fields.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6172200" y="804672"/>
            <a:ext cx="2834640" cy="4251960"/>
          </a:xfrm>
          <a:prstGeom prst="roundRect">
            <a:avLst>
              <a:gd name="adj" fmla="val 3226"/>
            </a:avLst>
          </a:prstGeom>
          <a:solidFill>
            <a:srgbClr val="F5A623">
              <a:alpha val="7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172200" y="804672"/>
            <a:ext cx="2834640" cy="438912"/>
          </a:xfrm>
          <a:prstGeom prst="roundRect">
            <a:avLst>
              <a:gd name="adj" fmla="val 20833"/>
            </a:avLst>
          </a:prstGeom>
          <a:solidFill>
            <a:srgbClr val="F5A623">
              <a:alpha val="8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263640" y="804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A05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8257032" y="905256"/>
            <a:ext cx="667512" cy="2286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257032" y="905256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335024"/>
            <a:ext cx="475488" cy="47548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245352" y="190195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Misconfiguration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6263640" y="226771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defaults, open cloud storage, verbose error messages or unnecessary features left enabled.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6263640" y="27614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Unauthorised access · Sensitive data exposure · System compromise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6263640" y="3090672"/>
            <a:ext cx="2633472" cy="18288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263640" y="31455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Mitigations: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6263640" y="34107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config validation (IaC)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6263640" y="36850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secrets in code — use .env files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6263640" y="395935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Disable debug mode in production</a:t>
            </a:r>
            <a:endParaRPr lang="en-US" sz="850" dirty="0"/>
          </a:p>
        </p:txBody>
      </p:sp>
      <p:sp>
        <p:nvSpPr>
          <p:cNvPr id="59" name="Text 53"/>
          <p:cNvSpPr/>
          <p:nvPr/>
        </p:nvSpPr>
        <p:spPr>
          <a:xfrm>
            <a:off x="626364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stack traces in API responses</a:t>
            </a:r>
            <a:endParaRPr lang="en-US" sz="850" dirty="0"/>
          </a:p>
        </p:txBody>
      </p:sp>
      <p:sp>
        <p:nvSpPr>
          <p:cNvPr id="60" name="Shape 54"/>
          <p:cNvSpPr/>
          <p:nvPr/>
        </p:nvSpPr>
        <p:spPr>
          <a:xfrm>
            <a:off x="6263640" y="4572000"/>
            <a:ext cx="2633472" cy="9144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263640" y="4636008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428232" y="4608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contract data paths and disables Flask debug on production server.</a:t>
            </a:r>
            <a:endParaRPr lang="en-US" sz="750" dirty="0"/>
          </a:p>
        </p:txBody>
      </p:sp>
      <p:sp>
        <p:nvSpPr>
          <p:cNvPr id="63" name="Shape 57"/>
          <p:cNvSpPr/>
          <p:nvPr/>
        </p:nvSpPr>
        <p:spPr>
          <a:xfrm>
            <a:off x="6263640" y="4882896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6428232" y="48554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bank API keys from being exposed in error responses or logs.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8755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Pay-as-you-go · Credit-Based Pricing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1A45CC">
              <a:alpha val="18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Credits are consumed per AI action — mission match, invoice generation, financial forecast, coaching advice, contract scan, and more.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627632"/>
            <a:ext cx="2816352" cy="3364992"/>
          </a:xfrm>
          <a:prstGeom prst="roundRect">
            <a:avLst>
              <a:gd name="adj" fmla="val 3896"/>
            </a:avLst>
          </a:prstGeom>
          <a:solidFill>
            <a:srgbClr val="132040"/>
          </a:solidFill>
          <a:ln w="12700">
            <a:solidFill>
              <a:srgbClr val="7A8CB5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73736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A8C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6032" y="2304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261518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$9.00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58952" y="312724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7A8CB5">
              <a:alpha val="25000"/>
            </a:srgbClr>
          </a:solidFill>
          <a:ln w="12700">
            <a:solidFill>
              <a:srgbClr val="7A8CB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 / credit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3456432"/>
            <a:ext cx="2487168" cy="18288"/>
          </a:xfrm>
          <a:prstGeom prst="rect">
            <a:avLst/>
          </a:prstGeom>
          <a:solidFill>
            <a:srgbClr val="7A8CB5">
              <a:alpha val="40000"/>
            </a:srgbClr>
          </a:solidFill>
          <a:ln w="12700">
            <a:solidFill>
              <a:srgbClr val="7A8CB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3584448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0624" y="373075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AI mission matches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0624" y="3968496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0624" y="41148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budget forecasts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1627632"/>
            <a:ext cx="2816352" cy="3364992"/>
          </a:xfrm>
          <a:prstGeom prst="roundRect">
            <a:avLst>
              <a:gd name="adj" fmla="val 3896"/>
            </a:avLst>
          </a:prstGeom>
          <a:solidFill>
            <a:srgbClr val="1A45CC"/>
          </a:solidFill>
          <a:ln w="12700">
            <a:solidFill>
              <a:srgbClr val="00C4A1"/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627632"/>
            <a:ext cx="2816352" cy="329184"/>
          </a:xfrm>
          <a:prstGeom prst="roundRect">
            <a:avLst>
              <a:gd name="adj" fmla="val 33333"/>
            </a:avLst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62763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BEST VALUE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202996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3200400" y="259689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9077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$29.00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703320" y="341985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0C4A1">
              <a:alpha val="40000"/>
            </a:srgbClr>
          </a:solidFill>
          <a:ln w="12700">
            <a:solidFill>
              <a:srgbClr val="00C4A1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419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$0.058 / credit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77640" y="3712464"/>
            <a:ext cx="1261872" cy="237744"/>
          </a:xfrm>
          <a:prstGeom prst="roundRect">
            <a:avLst>
              <a:gd name="adj" fmla="val 1923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37124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Save 35%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64992" y="4023360"/>
            <a:ext cx="2487168" cy="18288"/>
          </a:xfrm>
          <a:prstGeom prst="rect">
            <a:avLst/>
          </a:prstGeom>
          <a:solidFill>
            <a:srgbClr val="00C4A1">
              <a:alpha val="4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4151376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64992" y="429768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AI mission matches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64992" y="4535424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64992" y="46817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budget forecasts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44768" y="1627632"/>
            <a:ext cx="2816352" cy="3364992"/>
          </a:xfrm>
          <a:prstGeom prst="roundRect">
            <a:avLst>
              <a:gd name="adj" fmla="val 3896"/>
            </a:avLst>
          </a:prstGeom>
          <a:solidFill>
            <a:srgbClr val="132040"/>
          </a:solidFill>
          <a:ln w="12700">
            <a:solidFill>
              <a:srgbClr val="00C4A1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44768" y="1627632"/>
            <a:ext cx="2816352" cy="329184"/>
          </a:xfrm>
          <a:prstGeom prst="roundRect">
            <a:avLst>
              <a:gd name="adj" fmla="val 333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1627632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POWER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44768" y="202996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1,500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6144768" y="259689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29077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$79.00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6647688" y="341985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0C4A1">
              <a:alpha val="25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47688" y="3419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$0.053 / credit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22008" y="3712464"/>
            <a:ext cx="1261872" cy="237744"/>
          </a:xfrm>
          <a:prstGeom prst="roundRect">
            <a:avLst>
              <a:gd name="adj" fmla="val 1923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22008" y="37124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Save 42%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4023360"/>
            <a:ext cx="2487168" cy="18288"/>
          </a:xfrm>
          <a:prstGeom prst="rect">
            <a:avLst/>
          </a:prstGeom>
          <a:solidFill>
            <a:srgbClr val="00C4A1">
              <a:alpha val="4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4151376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09360" y="429768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AI mission matches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09360" y="4535424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309360" y="46817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 budget forecasts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12064" y="4800600"/>
            <a:ext cx="2304288" cy="347472"/>
          </a:xfrm>
          <a:prstGeom prst="roundRect">
            <a:avLst>
              <a:gd name="adj" fmla="val 18421"/>
            </a:avLst>
          </a:prstGeom>
          <a:solidFill>
            <a:srgbClr val="1A45CC">
              <a:alpha val="80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48006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Now →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56432" y="4800600"/>
            <a:ext cx="2304288" cy="347472"/>
          </a:xfrm>
          <a:prstGeom prst="roundRect">
            <a:avLst>
              <a:gd name="adj" fmla="val 18421"/>
            </a:avLst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56432" y="48006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Now →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0" y="4800600"/>
            <a:ext cx="2304288" cy="347472"/>
          </a:xfrm>
          <a:prstGeom prst="roundRect">
            <a:avLst>
              <a:gd name="adj" fmla="val 18421"/>
            </a:avLst>
          </a:prstGeom>
          <a:solidFill>
            <a:srgbClr val="1A45CC">
              <a:alpha val="80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48006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 Now 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5212080"/>
            <a:ext cx="8631936" cy="201168"/>
          </a:xfrm>
          <a:prstGeom prst="roundRect">
            <a:avLst>
              <a:gd name="adj" fmla="val 22727"/>
            </a:avLst>
          </a:prstGeom>
          <a:solidFill>
            <a:srgbClr val="1A45CC">
              <a:alpha val="12000"/>
            </a:srgbClr>
          </a:solidFill>
          <a:ln w="12700">
            <a:solidFill>
              <a:srgbClr val="1A45CC">
                <a:alpha val="32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521208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per action:  Mission Match = 10 cr  ·  Invoice Gen = 12 cr  ·  Contract Scan = 8 cr  ·  Budget Forecast = 6 cr  ·  AI Coach Chat = 5 cr  ·  Spending Analysis = 4 cr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SWOT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79392" cy="1965960"/>
          </a:xfrm>
          <a:prstGeom prst="roundRect">
            <a:avLst>
              <a:gd name="adj" fmla="val 4651"/>
            </a:avLst>
          </a:prstGeom>
          <a:solidFill>
            <a:srgbClr val="00C4A1">
              <a:alpha val="10000"/>
            </a:srgbClr>
          </a:solidFill>
          <a:ln w="12700">
            <a:solidFill>
              <a:srgbClr val="00C4A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22960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00C4A1">
              <a:alpha val="82000"/>
            </a:srgbClr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229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💪  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All-in-one AI platform (unique positioning)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Two powerful modules — Freelance + FinCoach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653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Strong Python/AI tech 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Privacy-first design from day 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100584" cy="100584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140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freelance + finance in one AI tool.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624328"/>
            <a:ext cx="100584" cy="100584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5877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coaching sets us apart from static budgeting apps.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81728" y="822960"/>
            <a:ext cx="4279392" cy="1965960"/>
          </a:xfrm>
          <a:prstGeom prst="roundRect">
            <a:avLst>
              <a:gd name="adj" fmla="val 4651"/>
            </a:avLst>
          </a:prstGeom>
          <a:solidFill>
            <a:srgbClr val="E07B39">
              <a:alpha val="10000"/>
            </a:srgbClr>
          </a:solidFill>
          <a:ln w="12700">
            <a:solidFill>
              <a:srgbClr val="E07B3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822960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E07B39">
              <a:alpha val="8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8229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Weaknesses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128016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New entrant, zero brand recognition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157276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SQLite limits scale (migration needed)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1456" y="186537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Requires user trust for financial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1456" y="2157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Small dev team — limited bandwidth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91456" y="2450592"/>
            <a:ext cx="100584" cy="100584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4140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freelancer user base or reviews.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91456" y="2624328"/>
            <a:ext cx="100584" cy="100584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25877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 complex and country-specific.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" y="2907792"/>
            <a:ext cx="4279392" cy="1965960"/>
          </a:xfrm>
          <a:prstGeom prst="roundRect">
            <a:avLst>
              <a:gd name="adj" fmla="val 4651"/>
            </a:avLst>
          </a:prstGeom>
          <a:solidFill>
            <a:srgbClr val="1A45CC">
              <a:alpha val="10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907792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1A45CC">
              <a:alpha val="82000"/>
            </a:srgbClr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907792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Opportunities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3649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78M+ freelancers worldwide, growing 15%/yr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65760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tool adoption growing 35%/yr in SMEs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9502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EU Open Banking regulation (PSD2) enables integration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2428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Remote work trend boosts freelance market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535424"/>
            <a:ext cx="100584" cy="100584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498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unmet demand for AI-assisted freelance management.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" y="4709160"/>
            <a:ext cx="100584" cy="100584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4672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massively underserved by current fintech tools.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81728" y="2907792"/>
            <a:ext cx="4279392" cy="1965960"/>
          </a:xfrm>
          <a:prstGeom prst="roundRect">
            <a:avLst>
              <a:gd name="adj" fmla="val 4651"/>
            </a:avLst>
          </a:prstGeom>
          <a:solidFill>
            <a:srgbClr val="E63946">
              <a:alpha val="1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1728" y="2907792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E63946">
              <a:alpha val="82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907792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Threats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91456" y="33649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Competitors: Malt, Fiverr, Pennylane, Qonto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91456" y="365760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GDPR compliance cost and complexity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91456" y="39502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API pricing volatility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91456" y="424281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User reluctance to share banking data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91456" y="4535424"/>
            <a:ext cx="100584" cy="100584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4498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platforms (Malt) have strong network effects.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91456" y="4709160"/>
            <a:ext cx="100584" cy="100584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46725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apps (N26, Revolut) adding AI coaching features.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8138160" cy="45720"/>
          </a:xfrm>
          <a:prstGeom prst="rect">
            <a:avLst/>
          </a:prstGeom>
          <a:solidFill>
            <a:srgbClr val="7A8CB5">
              <a:alpha val="40000"/>
            </a:srgbClr>
          </a:solidFill>
          <a:ln w="12700">
            <a:solidFill>
              <a:srgbClr val="7A8CB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" y="1627632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9768" y="1965960"/>
            <a:ext cx="1965960" cy="29992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A45CC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965960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·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24505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4140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2064" y="26151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board + AI matching v1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" y="3218688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182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12064" y="3383280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dashboard + spending categoriser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4005072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Mobile app (iOS/Android)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64408" y="1627632"/>
            <a:ext cx="256032" cy="256032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14600" y="1965960"/>
            <a:ext cx="1965960" cy="29992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00C4A1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1965960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· Beta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96896" y="24505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4140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96896" y="26151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invoice generator + contract scanner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96896" y="3218688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182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96896" y="3383280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 + personalised advice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0" y="4005072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Migrate SQLite → PostgreSQL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49240" y="162763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99432" y="1965960"/>
            <a:ext cx="1965960" cy="29992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5A623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99432" y="1965960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· Launch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24505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4140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81728" y="26151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+ AI negotiation coach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81728" y="3218688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182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81728" y="3383280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 + tax advisor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45152" y="4005072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LLM fine-tuning on domain data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434072" y="1627632"/>
            <a:ext cx="256032" cy="256032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84264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84264" y="1965960"/>
            <a:ext cx="1965960" cy="299923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A45CC">
                <a:alpha val="50000"/>
              </a:srgbClr>
            </a:solidFill>
            <a:prstDash val="solid"/>
          </a:ln>
          <a:effectLst>
            <a:outerShdw blurRad="127000" dist="38100" dir="162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684264" y="1965960"/>
            <a:ext cx="1965960" cy="365760"/>
          </a:xfrm>
          <a:prstGeom prst="roundRect">
            <a:avLst>
              <a:gd name="adj" fmla="val 25000"/>
            </a:avLst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· Scale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2450592"/>
            <a:ext cx="109728" cy="109728"/>
          </a:xfrm>
          <a:prstGeom prst="ellipse">
            <a:avLst/>
          </a:prstGeom>
          <a:solidFill>
            <a:srgbClr val="1A45CC"/>
          </a:solidFill>
          <a:ln w="12700">
            <a:solidFill>
              <a:srgbClr val="1A45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31152" y="24140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4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766560" y="261518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freelance network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66560" y="3218688"/>
            <a:ext cx="109728" cy="109728"/>
          </a:xfrm>
          <a:prstGeom prst="ellipse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31152" y="3182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FinCoach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66560" y="3383280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financial analytics API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29984" y="4005072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EU Open API marketplace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5047488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1A45CC">
              <a:alpha val="18000"/>
            </a:srgbClr>
          </a:solidFill>
          <a:ln w="12700">
            <a:solidFill>
              <a:srgbClr val="1A45CC">
                <a:alpha val="3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5047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Vision 2028 — Become the #1 AI platform for European independent workers and SMEs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2926080"/>
            <a:ext cx="3657600" cy="3657600"/>
          </a:xfrm>
          <a:prstGeom prst="ellipse">
            <a:avLst/>
          </a:prstGeom>
          <a:solidFill>
            <a:srgbClr val="1A45CC">
              <a:alpha val="12000"/>
            </a:srgbClr>
          </a:solidFill>
          <a:ln w="12700">
            <a:solidFill>
              <a:srgbClr val="1A45C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0C4A1">
              <a:alpha val="14000"/>
            </a:srgbClr>
          </a:solidFill>
          <a:ln w="12700">
            <a:solidFill>
              <a:srgbClr val="00C4A1">
                <a:alpha val="14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47548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737360" y="47548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intelligent 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All-in-one AI app — Freelance + FinCoach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9751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· Flask · SQLite · HTML/CSS/JS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CIA Triad + OWASP A01, A03, A05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7797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24-month product roadmap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182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of 4 passionate developers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777240"/>
            <a:ext cx="3154680" cy="4160520"/>
          </a:xfrm>
          <a:prstGeom prst="roundRect">
            <a:avLst>
              <a:gd name="adj" fmla="val 4058"/>
            </a:avLst>
          </a:prstGeom>
          <a:solidFill>
            <a:srgbClr val="1A45CC">
              <a:alpha val="15000"/>
            </a:srgbClr>
          </a:solidFill>
          <a:ln w="12700">
            <a:solidFill>
              <a:srgbClr val="1A45CC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960120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920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760720" y="2560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4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63640" y="2971800"/>
            <a:ext cx="2148840" cy="36576"/>
          </a:xfrm>
          <a:prstGeom prst="rect">
            <a:avLst/>
          </a:prstGeom>
          <a:solidFill>
            <a:srgbClr val="00C4A1"/>
          </a:solidFill>
          <a:ln w="12700">
            <a:solidFill>
              <a:srgbClr val="00C4A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4 — AI Project 2026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760720" y="34290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contact@lexwise.ai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760720" y="3685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www.lexwise.ai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</TotalTime>
  <Words>1963</Words>
  <Application>Microsoft Office PowerPoint</Application>
  <PresentationFormat>Affichage à l'écran (16:9)</PresentationFormat>
  <Paragraphs>384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malak bendari</cp:lastModifiedBy>
  <cp:revision>4</cp:revision>
  <dcterms:created xsi:type="dcterms:W3CDTF">2026-05-15T10:03:47Z</dcterms:created>
  <dcterms:modified xsi:type="dcterms:W3CDTF">2026-05-17T13:44:24Z</dcterms:modified>
</cp:coreProperties>
</file>